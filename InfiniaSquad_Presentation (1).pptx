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Introduce the team. Project built in under 24 hours for the Infinite Computer Solutions Hackathon.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business problem. By the time a human notices a critical ticket, the damage is often already done.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card. The AI gives 3 dimensions plus a reason and recommended action — not just positive/negative.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5 steps. This is also the Agent Loop — each complaint goes through the full pipeline sequentially.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tool is free and open-source. Groq was chosen over OpenAI because the free tier is more generous for hackathon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point: we get 5 fields in one single API call. Temperature 0.3 keeps scores consistent. try/except handles cases where AI wraps JSON in markdown code blocks.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Prompt engineering = writing instructions carefully. temperature:0.3 = low randomness for consistent scores. Double braces {{}} in f-strings produce literal { } in the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left-border colour lets agents scan the queue at a glance. get_sorted_complaints() uses sorted() with a lambda key on urgency_score descending.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satisfy TWO of the three capability options — External API and Agent Loop. Most teams pick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tests use analyzer.py because it returns predictable plain text. groq_service.py returns structured JSON which is harder to test without mocking.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Judges respect honest assessments. Frame limitations as 'what we'd build next': JSON → PostgreSQL, add auth (OAuth), WebSocket for real-time push.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judges. Mention GitHub repo is public. If asked about future work: WebSocket for real-time push, OAuth authentication, PostgreSQL, mobile support.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731520"/>
            <a:ext cx="4572000" cy="4572000"/>
          </a:xfrm>
          <a:prstGeom prst="ellipse">
            <a:avLst/>
          </a:prstGeom>
          <a:solidFill>
            <a:srgbClr val="6C8CF5">
              <a:alpha val="12000"/>
            </a:srgbClr>
          </a:solidFill>
          <a:ln w="12700">
            <a:solidFill>
              <a:srgbClr val="6C8CF5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2560320"/>
            <a:ext cx="3200400" cy="3200400"/>
          </a:xfrm>
          <a:prstGeom prst="ellipse">
            <a:avLst/>
          </a:prstGeom>
          <a:solidFill>
            <a:srgbClr val="26C6DA">
              <a:alpha val="10000"/>
            </a:srgbClr>
          </a:solidFill>
          <a:ln w="12700">
            <a:solidFill>
              <a:srgbClr val="26C6DA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411480"/>
            <a:ext cx="3383280" cy="274320"/>
          </a:xfrm>
          <a:prstGeom prst="roundRect">
            <a:avLst>
              <a:gd name="adj" fmla="val 20000"/>
            </a:avLst>
          </a:prstGeom>
          <a:solidFill>
            <a:srgbClr val="6C8CF5">
              <a:alpha val="22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502920" y="41148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C8CF5"/>
                </a:solidFill>
              </a:rPr>
              <a:t>INFINITE COMPUTER SOLUTIONS HACKATHON  ·  JUNE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77724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AI-Powered Customer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1481328"/>
            <a:ext cx="77724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Complaint Prioritization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365760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6C8CF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System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7200" y="2852928"/>
            <a:ext cx="6400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99B0"/>
                </a:solidFill>
              </a:rPr>
              <a:t>Instantly detect angry customers. Prevent churn before it happens.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675888"/>
            <a:ext cx="4206240" cy="1005840"/>
          </a:xfrm>
          <a:prstGeom prst="roundRect">
            <a:avLst>
              <a:gd name="adj" fmla="val 10909"/>
            </a:avLst>
          </a:prstGeom>
          <a:solidFill>
            <a:srgbClr val="141827"/>
          </a:solidFill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" y="3749040"/>
            <a:ext cx="3840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AF0"/>
                </a:solidFill>
              </a:rPr>
              <a:t>👥   Team Infinia Squad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" y="4059936"/>
            <a:ext cx="3840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Mathumitha.S</a:t>
            </a:r>
            <a:r>
              <a:rPr lang="en-US" sz="11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1100" b="1" dirty="0">
                <a:solidFill>
                  <a:srgbClr val="6C8CF5"/>
                </a:solidFill>
              </a:rPr>
              <a:t> </a:t>
            </a:r>
            <a:r>
              <a:rPr lang="en-US" sz="1100" dirty="0">
                <a:solidFill>
                  <a:srgbClr val="9499B0"/>
                </a:solidFill>
              </a:rPr>
              <a:t>·  </a:t>
            </a:r>
            <a:r>
              <a:rPr lang="en-US" sz="1100" dirty="0">
                <a:solidFill>
                  <a:schemeClr val="tx2">
                    <a:lumMod val="20000"/>
                    <a:lumOff val="80000"/>
                  </a:schemeClr>
                </a:solidFill>
              </a:rPr>
              <a:t>Kaviya.S  ·  Hemavarni.S</a:t>
            </a:r>
            <a:endParaRPr lang="en-US" sz="11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658368" y="4334256"/>
            <a:ext cx="38404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99B0"/>
                </a:solidFill>
              </a:rPr>
              <a:t>AI Integration  ·  UI / Dashboard  ·  Backend &amp; Docs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3858768"/>
            <a:ext cx="932688" cy="256032"/>
          </a:xfrm>
          <a:prstGeom prst="roundRect">
            <a:avLst>
              <a:gd name="adj" fmla="val 25000"/>
            </a:avLst>
          </a:prstGeom>
          <a:solidFill>
            <a:srgbClr val="141827"/>
          </a:solidFill>
        </p:spPr>
      </p:sp>
      <p:sp>
        <p:nvSpPr>
          <p:cNvPr id="15" name="Text 13"/>
          <p:cNvSpPr/>
          <p:nvPr/>
        </p:nvSpPr>
        <p:spPr>
          <a:xfrm>
            <a:off x="4846320" y="3858768"/>
            <a:ext cx="93268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99B0"/>
                </a:solidFill>
              </a:rPr>
              <a:t>Python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870448" y="3858768"/>
            <a:ext cx="932688" cy="256032"/>
          </a:xfrm>
          <a:prstGeom prst="roundRect">
            <a:avLst>
              <a:gd name="adj" fmla="val 25000"/>
            </a:avLst>
          </a:prstGeom>
          <a:solidFill>
            <a:srgbClr val="141827"/>
          </a:solidFill>
        </p:spPr>
      </p:sp>
      <p:sp>
        <p:nvSpPr>
          <p:cNvPr id="17" name="Text 15"/>
          <p:cNvSpPr/>
          <p:nvPr/>
        </p:nvSpPr>
        <p:spPr>
          <a:xfrm>
            <a:off x="5870448" y="3858768"/>
            <a:ext cx="93268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99B0"/>
                </a:solidFill>
              </a:rPr>
              <a:t>Streamlit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94576" y="3858768"/>
            <a:ext cx="932688" cy="256032"/>
          </a:xfrm>
          <a:prstGeom prst="roundRect">
            <a:avLst>
              <a:gd name="adj" fmla="val 25000"/>
            </a:avLst>
          </a:prstGeom>
          <a:solidFill>
            <a:srgbClr val="141827"/>
          </a:solidFill>
        </p:spPr>
      </p:sp>
      <p:sp>
        <p:nvSpPr>
          <p:cNvPr id="19" name="Text 17"/>
          <p:cNvSpPr/>
          <p:nvPr/>
        </p:nvSpPr>
        <p:spPr>
          <a:xfrm>
            <a:off x="6894576" y="3858768"/>
            <a:ext cx="93268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99B0"/>
                </a:solidFill>
              </a:rPr>
              <a:t>Groq AI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918704" y="3858768"/>
            <a:ext cx="932688" cy="256032"/>
          </a:xfrm>
          <a:prstGeom prst="roundRect">
            <a:avLst>
              <a:gd name="adj" fmla="val 25000"/>
            </a:avLst>
          </a:prstGeom>
          <a:solidFill>
            <a:srgbClr val="141827"/>
          </a:solidFill>
        </p:spPr>
      </p:sp>
      <p:sp>
        <p:nvSpPr>
          <p:cNvPr id="21" name="Text 19"/>
          <p:cNvSpPr/>
          <p:nvPr/>
        </p:nvSpPr>
        <p:spPr>
          <a:xfrm>
            <a:off x="7918704" y="3858768"/>
            <a:ext cx="93268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99B0"/>
                </a:solidFill>
              </a:rPr>
              <a:t>LLaMA 3.3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76756" cy="256032"/>
          </a:xfrm>
          <a:prstGeom prst="roundRect">
            <a:avLst>
              <a:gd name="adj" fmla="val 17857"/>
            </a:avLst>
          </a:prstGeom>
          <a:solidFill>
            <a:srgbClr val="6C8CF5">
              <a:alpha val="18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457200" y="320040"/>
            <a:ext cx="147675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C8CF5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Critical Tickets Get Buried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64008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99B0"/>
                </a:solidFill>
              </a:rPr>
              <a:t>While agents work through routine requests, the most dangerous ones wait silently in the queue.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141827"/>
          </a:solidFill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783080"/>
            <a:ext cx="64008" cy="1005840"/>
          </a:xfrm>
          <a:prstGeom prst="rect">
            <a:avLst/>
          </a:prstGeom>
          <a:solidFill>
            <a:srgbClr val="F05252"/>
          </a:solidFill>
          <a:ln w="12700">
            <a:solidFill>
              <a:srgbClr val="F052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783080"/>
            <a:ext cx="210312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525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2–4 hrs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04672" y="2304288"/>
            <a:ext cx="210312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99B0"/>
                </a:solidFill>
              </a:rPr>
              <a:t>Avg. wait before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99B0"/>
                </a:solidFill>
              </a:rPr>
              <a:t>critical ticket is seen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69164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141827"/>
          </a:solidFill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1783080"/>
            <a:ext cx="64008" cy="10058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39312" y="1783080"/>
            <a:ext cx="210312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9731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67%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639312" y="2304288"/>
            <a:ext cx="210312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99B0"/>
                </a:solidFill>
              </a:rPr>
              <a:t>Customers who churn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99B0"/>
                </a:solidFill>
              </a:rPr>
              <a:t>after poor urgent support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69164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141827"/>
          </a:solidFill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63640" y="1783080"/>
            <a:ext cx="64008" cy="100584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73952" y="1783080"/>
            <a:ext cx="210312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AB30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 in 5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473952" y="2304288"/>
            <a:ext cx="210312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99B0"/>
                </a:solidFill>
              </a:rPr>
              <a:t>Critical tickets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99B0"/>
                </a:solidFill>
              </a:rPr>
              <a:t>misclassified by humans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24612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AF0"/>
                </a:solidFill>
              </a:rPr>
              <a:t>Root Causes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3566160"/>
            <a:ext cx="80467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99B0"/>
                </a:solidFill>
              </a:rPr>
              <a:t>🔴  Angry customers sit in queue for hours — they churn before anyone responds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840480"/>
            <a:ext cx="80467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99B0"/>
                </a:solidFill>
              </a:rPr>
              <a:t>🔴  Junior agents cannot accurately judge urgency without business context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114800"/>
            <a:ext cx="80467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99B0"/>
                </a:solidFill>
              </a:rPr>
              <a:t>🔴  No automated flag for churn risk language like 'I'm cancelling' or 'switching'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4389120"/>
            <a:ext cx="80467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99B0"/>
                </a:solidFill>
              </a:rPr>
              <a:t>🔴  Senior agents are called too late — after the customer has already left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581912" cy="256032"/>
          </a:xfrm>
          <a:prstGeom prst="roundRect">
            <a:avLst>
              <a:gd name="adj" fmla="val 17857"/>
            </a:avLst>
          </a:prstGeom>
          <a:solidFill>
            <a:srgbClr val="6C8CF5">
              <a:alpha val="18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15819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C8CF5"/>
                </a:solidFill>
              </a:rPr>
              <a:t>OUR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23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We Built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</a:rPr>
              <a:t>An AI triage system that scores every complaint in under 2 seconds — critical tickets surface automatically.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2578608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" y="1773936"/>
            <a:ext cx="502920" cy="502920"/>
          </a:xfrm>
          <a:prstGeom prst="ellipse">
            <a:avLst/>
          </a:prstGeom>
          <a:solidFill>
            <a:srgbClr val="6C8CF5">
              <a:alpha val="20000"/>
            </a:srgbClr>
          </a:solidFill>
          <a:ln w="12700">
            <a:solidFill>
              <a:srgbClr val="6C8CF5">
                <a:alpha val="2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773936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21792" y="2359152"/>
            <a:ext cx="226771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235"/>
                </a:solidFill>
              </a:rPr>
              <a:t>3-Dimensional Scoring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" y="2743200"/>
            <a:ext cx="2267712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Every complaint scored for Sentiment (tone), Urgency (business impact), and Churn Risk (likelihood to leave) simultaneously in one AI call.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55264" y="1627632"/>
            <a:ext cx="2578608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19856" y="1773936"/>
            <a:ext cx="502920" cy="502920"/>
          </a:xfrm>
          <a:prstGeom prst="ellipse">
            <a:avLst/>
          </a:prstGeom>
          <a:solidFill>
            <a:srgbClr val="26C6DA">
              <a:alpha val="20000"/>
            </a:srgbClr>
          </a:solidFill>
          <a:ln w="12700">
            <a:solidFill>
              <a:srgbClr val="26C6DA">
                <a:alpha val="2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19856" y="1773936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19856" y="2359152"/>
            <a:ext cx="226771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235"/>
                </a:solidFill>
              </a:rPr>
              <a:t>Live Priority Dashboard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19856" y="2743200"/>
            <a:ext cx="2267712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Support team sees all complaints sorted by urgency. Critical tickets always at the top — colour-coded red for instant recognition.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53328" y="1627632"/>
            <a:ext cx="2578608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773936"/>
            <a:ext cx="502920" cy="502920"/>
          </a:xfrm>
          <a:prstGeom prst="ellipse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>
                <a:alpha val="2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773936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217920" y="2359152"/>
            <a:ext cx="226771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235"/>
                </a:solidFill>
              </a:rPr>
              <a:t>Instant Feedback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0" y="2743200"/>
            <a:ext cx="2267712" cy="7863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B5563"/>
                </a:solidFill>
              </a:rPr>
              <a:t>Customer gets scores displayed immediately after submitting. They know their issue was understood and prioritised.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822192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6C8CF5">
              <a:alpha val="12000"/>
            </a:srgbClr>
          </a:solidFill>
        </p:spPr>
      </p:sp>
      <p:sp>
        <p:nvSpPr>
          <p:cNvPr id="22" name="Text 20"/>
          <p:cNvSpPr/>
          <p:nvPr/>
        </p:nvSpPr>
        <p:spPr>
          <a:xfrm>
            <a:off x="594360" y="3822192"/>
            <a:ext cx="79552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E2235"/>
                </a:solidFill>
              </a:rPr>
              <a:t>"Type a complaint → AI scores it → Dashboard surfaces the danger → Support team responds in minutes, not hours"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581912" cy="256032"/>
          </a:xfrm>
          <a:prstGeom prst="roundRect">
            <a:avLst>
              <a:gd name="adj" fmla="val 17857"/>
            </a:avLst>
          </a:prstGeom>
          <a:solidFill>
            <a:srgbClr val="6C8CF5">
              <a:alpha val="18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158191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C8CF5"/>
                </a:solidFill>
              </a:rPr>
              <a:t>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How the System Works — End to End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444752" cy="2103120"/>
          </a:xfrm>
          <a:prstGeom prst="roundRect">
            <a:avLst>
              <a:gd name="adj" fmla="val 7595"/>
            </a:avLst>
          </a:prstGeom>
          <a:solidFill>
            <a:srgbClr val="141827"/>
          </a:solidFill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13816" y="1344168"/>
            <a:ext cx="713232" cy="713232"/>
          </a:xfrm>
          <a:prstGeom prst="ellipse">
            <a:avLst/>
          </a:prstGeom>
          <a:solidFill>
            <a:srgbClr val="6C8CF5">
              <a:alpha val="20000"/>
            </a:srgbClr>
          </a:solidFill>
          <a:ln w="12700">
            <a:solidFill>
              <a:srgbClr val="6C8CF5">
                <a:alpha val="2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3816" y="1344168"/>
            <a:ext cx="713232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C8CF5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30352" y="2148840"/>
            <a:ext cx="1298448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EAF0"/>
                </a:solidFill>
              </a:rPr>
              <a:t>CUSTOMER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30352" y="2404872"/>
            <a:ext cx="1298448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C8CF5"/>
                </a:solidFill>
              </a:rPr>
              <a:t>user_form.py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30352" y="2606040"/>
            <a:ext cx="1298448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99B0"/>
                </a:solidFill>
              </a:rPr>
              <a:t>Submits name,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99B0"/>
                </a:solidFill>
              </a:rPr>
              <a:t>email &amp; complaint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920240" y="2148840"/>
            <a:ext cx="228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99B0"/>
                </a:solidFill>
              </a:rPr>
              <a:t>›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157984" y="1234440"/>
            <a:ext cx="1444752" cy="2103120"/>
          </a:xfrm>
          <a:prstGeom prst="roundRect">
            <a:avLst>
              <a:gd name="adj" fmla="val 7595"/>
            </a:avLst>
          </a:prstGeom>
          <a:solidFill>
            <a:srgbClr val="141827"/>
          </a:solidFill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14600" y="1344168"/>
            <a:ext cx="713232" cy="713232"/>
          </a:xfrm>
          <a:prstGeom prst="ellipse">
            <a:avLst/>
          </a:prstGeom>
          <a:solidFill>
            <a:srgbClr val="26C6DA">
              <a:alpha val="20000"/>
            </a:srgbClr>
          </a:solidFill>
          <a:ln w="12700">
            <a:solidFill>
              <a:srgbClr val="26C6DA">
                <a:alpha val="2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14600" y="1344168"/>
            <a:ext cx="713232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6C6DA"/>
                </a:solidFill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231136" y="2148840"/>
            <a:ext cx="1298448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EAF0"/>
                </a:solidFill>
              </a:rPr>
              <a:t>AI SCORING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231136" y="2404872"/>
            <a:ext cx="1298448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6C6DA"/>
                </a:solidFill>
              </a:rPr>
              <a:t>groq_service.py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231136" y="2606040"/>
            <a:ext cx="1298448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99B0"/>
                </a:solidFill>
              </a:rPr>
              <a:t>LLaMA 3.3 scores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99B0"/>
                </a:solidFill>
              </a:rPr>
              <a:t>sentiment &amp; urgency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621024" y="2148840"/>
            <a:ext cx="228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99B0"/>
                </a:solidFill>
              </a:rPr>
              <a:t>›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858768" y="1234440"/>
            <a:ext cx="1444752" cy="2103120"/>
          </a:xfrm>
          <a:prstGeom prst="roundRect">
            <a:avLst>
              <a:gd name="adj" fmla="val 7595"/>
            </a:avLst>
          </a:prstGeom>
          <a:solidFill>
            <a:srgbClr val="141827"/>
          </a:solidFill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215384" y="1344168"/>
            <a:ext cx="713232" cy="713232"/>
          </a:xfrm>
          <a:prstGeom prst="ellipse">
            <a:avLst/>
          </a:prstGeom>
          <a:solidFill>
            <a:srgbClr val="EAB308">
              <a:alpha val="20000"/>
            </a:srgbClr>
          </a:solidFill>
          <a:ln w="12700">
            <a:solidFill>
              <a:srgbClr val="EAB308">
                <a:alpha val="2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15384" y="1344168"/>
            <a:ext cx="713232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AB308"/>
                </a:solidFill>
              </a:rPr>
              <a:t>03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931920" y="2148840"/>
            <a:ext cx="1298448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EAF0"/>
                </a:solidFill>
              </a:rPr>
              <a:t>DECISION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931920" y="2404872"/>
            <a:ext cx="1298448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AB308"/>
                </a:solidFill>
              </a:rPr>
              <a:t>helpers.py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931920" y="2606040"/>
            <a:ext cx="1298448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99B0"/>
                </a:solidFill>
              </a:rPr>
              <a:t>Threshold logic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99B0"/>
                </a:solidFill>
              </a:rPr>
              <a:t>assigns priority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321808" y="2148840"/>
            <a:ext cx="228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99B0"/>
                </a:solidFill>
              </a:rPr>
              <a:t>›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5559552" y="1234440"/>
            <a:ext cx="1444752" cy="2103120"/>
          </a:xfrm>
          <a:prstGeom prst="roundRect">
            <a:avLst>
              <a:gd name="adj" fmla="val 7595"/>
            </a:avLst>
          </a:prstGeom>
          <a:solidFill>
            <a:srgbClr val="141827"/>
          </a:solidFill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916168" y="1344168"/>
            <a:ext cx="713232" cy="713232"/>
          </a:xfrm>
          <a:prstGeom prst="ellipse">
            <a:avLst/>
          </a:prstGeom>
          <a:solidFill>
            <a:srgbClr val="F97316">
              <a:alpha val="20000"/>
            </a:srgbClr>
          </a:solidFill>
          <a:ln w="12700">
            <a:solidFill>
              <a:srgbClr val="F97316">
                <a:alpha val="2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16168" y="1344168"/>
            <a:ext cx="713232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7316"/>
                </a:solidFill>
              </a:rPr>
              <a:t>04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632704" y="2148840"/>
            <a:ext cx="1298448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EAF0"/>
                </a:solidFill>
              </a:rPr>
              <a:t>STORAGE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632704" y="2404872"/>
            <a:ext cx="1298448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97316"/>
                </a:solidFill>
              </a:rPr>
              <a:t>db_service.py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632704" y="2606040"/>
            <a:ext cx="1298448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99B0"/>
                </a:solidFill>
              </a:rPr>
              <a:t>Saves to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99B0"/>
                </a:solidFill>
              </a:rPr>
              <a:t>complaints.json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022592" y="2148840"/>
            <a:ext cx="228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99B0"/>
                </a:solidFill>
              </a:rPr>
              <a:t>›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7260336" y="1234440"/>
            <a:ext cx="1444752" cy="2103120"/>
          </a:xfrm>
          <a:prstGeom prst="roundRect">
            <a:avLst>
              <a:gd name="adj" fmla="val 7595"/>
            </a:avLst>
          </a:prstGeom>
          <a:solidFill>
            <a:srgbClr val="141827"/>
          </a:solidFill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616952" y="1344168"/>
            <a:ext cx="713232" cy="713232"/>
          </a:xfrm>
          <a:prstGeom prst="ellipse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>
                <a:alpha val="2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16952" y="1344168"/>
            <a:ext cx="713232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C55E"/>
                </a:solidFill>
              </a:rPr>
              <a:t>05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333488" y="2148840"/>
            <a:ext cx="1298448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EAF0"/>
                </a:solidFill>
              </a:rPr>
              <a:t>DASHBOARD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333488" y="2404872"/>
            <a:ext cx="1298448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2C55E"/>
                </a:solidFill>
              </a:rPr>
              <a:t>dashboard.py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333488" y="2606040"/>
            <a:ext cx="1298448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99B0"/>
                </a:solidFill>
              </a:rPr>
              <a:t>Sorted cards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99B0"/>
                </a:solidFill>
              </a:rPr>
              <a:t>for agents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57200" y="3493008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99B0"/>
                </a:solidFill>
              </a:rPr>
              <a:t>Each complaint flows through all 5 layers in under 3 seconds  ·  Agent Loop: processes each complaint fully before moving to the next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57200" y="3913632"/>
            <a:ext cx="2633472" cy="685800"/>
          </a:xfrm>
          <a:prstGeom prst="roundRect">
            <a:avLst>
              <a:gd name="adj" fmla="val 16000"/>
            </a:avLst>
          </a:prstGeom>
          <a:solidFill>
            <a:srgbClr val="141827"/>
          </a:solidFill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40080" y="3977640"/>
            <a:ext cx="22860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8CF5"/>
                </a:solidFill>
              </a:rPr>
              <a:t>app.py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40080" y="4233672"/>
            <a:ext cx="22860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99B0"/>
                </a:solidFill>
              </a:rPr>
              <a:t>Entry point · routing · dark theme CSS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255264" y="3913632"/>
            <a:ext cx="2633472" cy="685800"/>
          </a:xfrm>
          <a:prstGeom prst="roundRect">
            <a:avLst>
              <a:gd name="adj" fmla="val 16000"/>
            </a:avLst>
          </a:prstGeom>
          <a:solidFill>
            <a:srgbClr val="141827"/>
          </a:solidFill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3438144" y="3977640"/>
            <a:ext cx="22860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8CF5"/>
                </a:solidFill>
              </a:rPr>
              <a:t>analyzer.py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438144" y="4233672"/>
            <a:ext cx="22860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99B0"/>
                </a:solidFill>
              </a:rPr>
              <a:t>Standalone analyzer used by test suite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053328" y="3913632"/>
            <a:ext cx="2633472" cy="685800"/>
          </a:xfrm>
          <a:prstGeom prst="roundRect">
            <a:avLst>
              <a:gd name="adj" fmla="val 16000"/>
            </a:avLst>
          </a:prstGeom>
          <a:solidFill>
            <a:srgbClr val="141827"/>
          </a:solidFill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6236208" y="3977640"/>
            <a:ext cx="22860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8CF5"/>
                </a:solidFill>
              </a:rPr>
              <a:t>requirements.txt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236208" y="4233672"/>
            <a:ext cx="22860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99B0"/>
                </a:solidFill>
              </a:rPr>
              <a:t>streamlit  groq  python-dotenv  pandas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256032"/>
          </a:xfrm>
          <a:prstGeom prst="roundRect">
            <a:avLst>
              <a:gd name="adj" fmla="val 17857"/>
            </a:avLst>
          </a:prstGeom>
          <a:solidFill>
            <a:srgbClr val="6C8CF5">
              <a:alpha val="18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C8CF5"/>
                </a:solidFill>
              </a:rPr>
              <a:t>TECH STACK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23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Built Entirely with Free &amp; Open-Source Tools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12648" y="1399032"/>
            <a:ext cx="493776" cy="493776"/>
          </a:xfrm>
          <a:prstGeom prst="ellipse">
            <a:avLst/>
          </a:prstGeom>
          <a:solidFill>
            <a:srgbClr val="EF4444">
              <a:alpha val="18000"/>
            </a:srgbClr>
          </a:solidFill>
          <a:ln w="12700">
            <a:solidFill>
              <a:srgbClr val="EF4444">
                <a:alpha val="18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399032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🖥️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07008" y="1399032"/>
            <a:ext cx="16916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235"/>
                </a:solidFill>
              </a:rPr>
              <a:t>Streamlit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07008" y="1645920"/>
            <a:ext cx="1691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</a:rPr>
              <a:t>Frontend &amp; UI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12648" y="1956816"/>
            <a:ext cx="2304288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</a:rPr>
              <a:t>Full web app from pure Python — no HTML or JS needed. Perfect for 24-hour builds.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91840" y="1261872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47288" y="1399032"/>
            <a:ext cx="493776" cy="493776"/>
          </a:xfrm>
          <a:prstGeom prst="ellipse">
            <a:avLst/>
          </a:prstGeom>
          <a:solidFill>
            <a:srgbClr val="26C6DA">
              <a:alpha val="18000"/>
            </a:srgbClr>
          </a:solidFill>
          <a:ln w="12700">
            <a:solidFill>
              <a:srgbClr val="26C6DA">
                <a:alpha val="18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47288" y="1399032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041648" y="1399032"/>
            <a:ext cx="16916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235"/>
                </a:solidFill>
              </a:rPr>
              <a:t>Groq API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041648" y="1645920"/>
            <a:ext cx="1691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C6DA"/>
                </a:solidFill>
              </a:rPr>
              <a:t>AI Inference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47288" y="1956816"/>
            <a:ext cx="2304288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</a:rPr>
              <a:t>Runs LLaMA 3.3 on cloud servers. Free tier, generous limits, responses under 1 second.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26480" y="1261872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81928" y="1399032"/>
            <a:ext cx="493776" cy="493776"/>
          </a:xfrm>
          <a:prstGeom prst="ellipse">
            <a:avLst/>
          </a:prstGeom>
          <a:solidFill>
            <a:srgbClr val="6C8CF5">
              <a:alpha val="18000"/>
            </a:srgbClr>
          </a:solidFill>
          <a:ln w="12700">
            <a:solidFill>
              <a:srgbClr val="6C8CF5">
                <a:alpha val="18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81928" y="1399032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876288" y="1399032"/>
            <a:ext cx="16916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235"/>
                </a:solidFill>
              </a:rPr>
              <a:t>LLaMA 3.3 70B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76288" y="1645920"/>
            <a:ext cx="1691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C8CF5"/>
                </a:solidFill>
              </a:rPr>
              <a:t>AI Language Model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81928" y="1956816"/>
            <a:ext cx="2304288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</a:rPr>
              <a:t>Meta's open-source model, 70B parameters. Understands tone, urgency, and churn risk deeply.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2889504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" y="3026664"/>
            <a:ext cx="493776" cy="493776"/>
          </a:xfrm>
          <a:prstGeom prst="ellipse">
            <a:avLst/>
          </a:prstGeom>
          <a:solidFill>
            <a:srgbClr val="22C55E">
              <a:alpha val="18000"/>
            </a:srgbClr>
          </a:solidFill>
          <a:ln w="12700">
            <a:solidFill>
              <a:srgbClr val="22C55E">
                <a:alpha val="18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" y="3026664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🐍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07008" y="3026664"/>
            <a:ext cx="16916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235"/>
                </a:solidFill>
              </a:rPr>
              <a:t>Python 3.10+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07008" y="3273552"/>
            <a:ext cx="1691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</a:rPr>
              <a:t>Backend Language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12648" y="3584448"/>
            <a:ext cx="2304288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</a:rPr>
              <a:t>All logic, API calls, and data handling in the team's primary language.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91840" y="2889504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447288" y="3026664"/>
            <a:ext cx="493776" cy="493776"/>
          </a:xfrm>
          <a:prstGeom prst="ellipse">
            <a:avLst/>
          </a:prstGeom>
          <a:solidFill>
            <a:srgbClr val="F97316">
              <a:alpha val="18000"/>
            </a:srgbClr>
          </a:solidFill>
          <a:ln w="12700">
            <a:solidFill>
              <a:srgbClr val="F97316">
                <a:alpha val="18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47288" y="3026664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🗃️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041648" y="3026664"/>
            <a:ext cx="16916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235"/>
                </a:solidFill>
              </a:rPr>
              <a:t>JSON File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041648" y="3273552"/>
            <a:ext cx="1691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97316"/>
                </a:solidFill>
              </a:rPr>
              <a:t>Storage Layer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447288" y="3584448"/>
            <a:ext cx="2304288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</a:rPr>
              <a:t>Zero setup, human-readable, sufficient for ~100 complaints. Swap-ready for PostgreSQL.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126480" y="2889504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81928" y="3026664"/>
            <a:ext cx="493776" cy="493776"/>
          </a:xfrm>
          <a:prstGeom prst="ellipse">
            <a:avLst/>
          </a:prstGeom>
          <a:solidFill>
            <a:srgbClr val="EAB308">
              <a:alpha val="18000"/>
            </a:srgbClr>
          </a:solidFill>
          <a:ln w="12700">
            <a:solidFill>
              <a:srgbClr val="EAB308">
                <a:alpha val="18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81928" y="3026664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876288" y="3026664"/>
            <a:ext cx="169164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235"/>
                </a:solidFill>
              </a:rPr>
              <a:t>Pytest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876288" y="3273552"/>
            <a:ext cx="169164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AB308"/>
                </a:solidFill>
              </a:rPr>
              <a:t>Testing Framework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281928" y="3584448"/>
            <a:ext cx="2304288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</a:rPr>
              <a:t>5 automated tests covering scoring accuracy, output format, and edge cases.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056132" cy="256032"/>
          </a:xfrm>
          <a:prstGeom prst="roundRect">
            <a:avLst>
              <a:gd name="adj" fmla="val 17857"/>
            </a:avLst>
          </a:prstGeom>
          <a:solidFill>
            <a:srgbClr val="6C8CF5">
              <a:alpha val="18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10561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C8CF5"/>
                </a:solidFill>
              </a:rPr>
              <a:t>AI CORE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Scoring Engine — groq_service.py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749040" cy="1115568"/>
          </a:xfrm>
          <a:prstGeom prst="roundRect">
            <a:avLst>
              <a:gd name="adj" fmla="val 9836"/>
            </a:avLst>
          </a:prstGeom>
          <a:solidFill>
            <a:srgbClr val="141827"/>
          </a:solidFill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07592"/>
            <a:ext cx="33832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C8CF5"/>
                </a:solidFill>
              </a:rPr>
              <a:t>INPUT — Complaint Text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572768"/>
            <a:ext cx="3383280" cy="6583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99B0"/>
                </a:solidFill>
              </a:rPr>
              <a:t>"My account has been hacked. Someone is making unauthorized transactions. This is extremely urgent, please help immediately!"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334256" y="1600200"/>
            <a:ext cx="347472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C8CF5"/>
                </a:solidFill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828032" y="1234440"/>
            <a:ext cx="3858768" cy="1115568"/>
          </a:xfrm>
          <a:prstGeom prst="roundRect">
            <a:avLst>
              <a:gd name="adj" fmla="val 9836"/>
            </a:avLst>
          </a:prstGeom>
          <a:solidFill>
            <a:srgbClr val="141827"/>
          </a:solidFill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10912" y="1307592"/>
            <a:ext cx="3493008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6C6DA"/>
                </a:solidFill>
              </a:rPr>
              <a:t>OUTPUT — AI JSON Response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10912" y="1572768"/>
            <a:ext cx="3493008" cy="1737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C55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 "sentiment": "Negative",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010912" y="1746504"/>
            <a:ext cx="3493008" cy="1737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C55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"urgency_score": 9,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010912" y="1920240"/>
            <a:ext cx="3493008" cy="1737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C55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"urgency_label": "Critical",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10912" y="2093976"/>
            <a:ext cx="3493008" cy="1737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C55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"summary": "Account breach..." }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" y="2496312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AF0"/>
                </a:solidFill>
              </a:rPr>
              <a:t>What the AI Returns — 5 Fields in One Call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8229600" cy="301752"/>
          </a:xfrm>
          <a:prstGeom prst="roundRect">
            <a:avLst>
              <a:gd name="adj" fmla="val 15152"/>
            </a:avLst>
          </a:prstGeom>
          <a:solidFill>
            <a:srgbClr val="141827"/>
          </a:solidFill>
        </p:spPr>
      </p:sp>
      <p:sp>
        <p:nvSpPr>
          <p:cNvPr id="17" name="Text 15"/>
          <p:cNvSpPr/>
          <p:nvPr/>
        </p:nvSpPr>
        <p:spPr>
          <a:xfrm>
            <a:off x="594360" y="2834640"/>
            <a:ext cx="178308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C8C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sentiment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468880" y="2834640"/>
            <a:ext cx="228600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B308"/>
                </a:solidFill>
              </a:rPr>
              <a:t>Positive / Neutral / Negative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46320" y="2834640"/>
            <a:ext cx="374904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99B0"/>
                </a:solidFill>
              </a:rPr>
              <a:t>Emotional tone of the message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182112"/>
            <a:ext cx="8229600" cy="301752"/>
          </a:xfrm>
          <a:prstGeom prst="roundRect">
            <a:avLst>
              <a:gd name="adj" fmla="val 15152"/>
            </a:avLst>
          </a:prstGeom>
          <a:solidFill>
            <a:srgbClr val="141827"/>
          </a:solidFill>
        </p:spPr>
      </p:sp>
      <p:sp>
        <p:nvSpPr>
          <p:cNvPr id="21" name="Text 19"/>
          <p:cNvSpPr/>
          <p:nvPr/>
        </p:nvSpPr>
        <p:spPr>
          <a:xfrm>
            <a:off x="594360" y="3182112"/>
            <a:ext cx="178308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C8C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sentiment_symbol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468880" y="3182112"/>
            <a:ext cx="228600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B308"/>
                </a:solidFill>
              </a:rPr>
              <a:t>+ / ~ / −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46320" y="3182112"/>
            <a:ext cx="374904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99B0"/>
                </a:solidFill>
              </a:rPr>
              <a:t>Visual indicator shown on dashboard cards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3529584"/>
            <a:ext cx="8229600" cy="301752"/>
          </a:xfrm>
          <a:prstGeom prst="roundRect">
            <a:avLst>
              <a:gd name="adj" fmla="val 15152"/>
            </a:avLst>
          </a:prstGeom>
          <a:solidFill>
            <a:srgbClr val="141827"/>
          </a:solidFill>
        </p:spPr>
      </p:sp>
      <p:sp>
        <p:nvSpPr>
          <p:cNvPr id="25" name="Text 23"/>
          <p:cNvSpPr/>
          <p:nvPr/>
        </p:nvSpPr>
        <p:spPr>
          <a:xfrm>
            <a:off x="594360" y="3529584"/>
            <a:ext cx="178308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C8C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urgency_score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468880" y="3529584"/>
            <a:ext cx="228600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B308"/>
                </a:solidFill>
              </a:rPr>
              <a:t>Integer 1–10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46320" y="3529584"/>
            <a:ext cx="374904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99B0"/>
                </a:solidFill>
              </a:rPr>
              <a:t>Business impact severity (10 = production down)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3877056"/>
            <a:ext cx="8229600" cy="301752"/>
          </a:xfrm>
          <a:prstGeom prst="roundRect">
            <a:avLst>
              <a:gd name="adj" fmla="val 15152"/>
            </a:avLst>
          </a:prstGeom>
          <a:solidFill>
            <a:srgbClr val="141827"/>
          </a:solidFill>
        </p:spPr>
      </p:sp>
      <p:sp>
        <p:nvSpPr>
          <p:cNvPr id="29" name="Text 27"/>
          <p:cNvSpPr/>
          <p:nvPr/>
        </p:nvSpPr>
        <p:spPr>
          <a:xfrm>
            <a:off x="594360" y="3877056"/>
            <a:ext cx="178308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C8C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urgency_label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468880" y="3877056"/>
            <a:ext cx="228600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B308"/>
                </a:solidFill>
              </a:rPr>
              <a:t>Low / Medium / High / Critical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46320" y="3877056"/>
            <a:ext cx="374904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99B0"/>
                </a:solidFill>
              </a:rPr>
              <a:t>Human-readable priority tier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" y="4224528"/>
            <a:ext cx="8229600" cy="301752"/>
          </a:xfrm>
          <a:prstGeom prst="roundRect">
            <a:avLst>
              <a:gd name="adj" fmla="val 15152"/>
            </a:avLst>
          </a:prstGeom>
          <a:solidFill>
            <a:srgbClr val="141827"/>
          </a:solidFill>
        </p:spPr>
      </p:sp>
      <p:sp>
        <p:nvSpPr>
          <p:cNvPr id="33" name="Text 31"/>
          <p:cNvSpPr/>
          <p:nvPr/>
        </p:nvSpPr>
        <p:spPr>
          <a:xfrm>
            <a:off x="594360" y="4224528"/>
            <a:ext cx="178308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C8C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summary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468880" y="4224528"/>
            <a:ext cx="228600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AB308"/>
                </a:solidFill>
              </a:rPr>
              <a:t>One sentence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46320" y="4224528"/>
            <a:ext cx="374904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99B0"/>
                </a:solidFill>
              </a:rPr>
              <a:t>AI-generated plain English summary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212848" cy="256032"/>
          </a:xfrm>
          <a:prstGeom prst="roundRect">
            <a:avLst>
              <a:gd name="adj" fmla="val 17857"/>
            </a:avLst>
          </a:prstGeom>
          <a:solidFill>
            <a:srgbClr val="6C8CF5">
              <a:alpha val="18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221284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C8CF5"/>
                </a:solidFill>
              </a:rPr>
              <a:t>PROMPT ENGINEERING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23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How We Instruct the AI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663440" cy="2907792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280160"/>
            <a:ext cx="42976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B5563"/>
                </a:solidFill>
              </a:rPr>
              <a:t>The Actual Prompt — groq_service.py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572768"/>
            <a:ext cx="4315968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You are a customer support AI assistant.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40080" y="1755648"/>
            <a:ext cx="4315968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Analyze the following customer complaint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40080" y="1938528"/>
            <a:ext cx="4315968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and return ONLY a JSON object with no extra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40080" y="2121408"/>
            <a:ext cx="4315968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text, no markdown, no explanation.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40080" y="2304288"/>
            <a:ext cx="4315968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40080" y="2487168"/>
            <a:ext cx="4315968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C8C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Complaint: "{complaint_text}"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40080" y="2670048"/>
            <a:ext cx="4315968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40080" y="2852928"/>
            <a:ext cx="4315968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Return exactly this JSON format: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40080" y="3035808"/>
            <a:ext cx="4315968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C55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 "sentiment": "Positive|Neutral|Negative",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640080" y="3218688"/>
            <a:ext cx="4315968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C55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"urgency_score": &lt;integer 1-10&gt;,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40080" y="3401568"/>
            <a:ext cx="4315968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C55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"urgency_label": "Low|Medium|High|Critical",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0080" y="3584448"/>
            <a:ext cx="4315968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2C55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"summary": "&lt;one line summary&gt;" }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349240" y="1207008"/>
            <a:ext cx="3310128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504688" y="1261872"/>
            <a:ext cx="299923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235"/>
                </a:solidFill>
              </a:rPr>
              <a:t>Role instruction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504688" y="1481328"/>
            <a:ext cx="2999232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</a:rPr>
              <a:t>Tells AI it is a triage expert — sets context for all scoring decisions it makes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349240" y="2029968"/>
            <a:ext cx="3310128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504688" y="2084832"/>
            <a:ext cx="299923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235"/>
                </a:solidFill>
              </a:rPr>
              <a:t>"ONLY a JSON object"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504688" y="2304288"/>
            <a:ext cx="2999232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</a:rPr>
              <a:t>Without this the AI adds text before the JSON that breaks json.loads()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349240" y="2761488"/>
            <a:ext cx="3310128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504688" y="2816352"/>
            <a:ext cx="299923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235"/>
                </a:solidFill>
              </a:rPr>
              <a:t>f-string {complaint_text}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04688" y="3035808"/>
            <a:ext cx="2999232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</a:rPr>
              <a:t>Python inserts the real complaint at runtime — the braces are the injection point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349240" y="3401568"/>
            <a:ext cx="3310128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504688" y="3456432"/>
            <a:ext cx="2999232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235"/>
                </a:solidFill>
              </a:rPr>
              <a:t>Exact schema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504688" y="3675888"/>
            <a:ext cx="2999232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B5563"/>
                </a:solidFill>
              </a:rPr>
              <a:t>Forces a predictable structure our code can reliably parse every time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792224" cy="256032"/>
          </a:xfrm>
          <a:prstGeom prst="roundRect">
            <a:avLst>
              <a:gd name="adj" fmla="val 17857"/>
            </a:avLst>
          </a:prstGeom>
          <a:solidFill>
            <a:srgbClr val="6C8CF5">
              <a:alpha val="18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179222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C8CF5"/>
                </a:solidFill>
              </a:rPr>
              <a:t>LIVE DASHBOARD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the Support Team Sees — dashboard.py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920240" cy="822960"/>
          </a:xfrm>
          <a:prstGeom prst="roundRect">
            <a:avLst>
              <a:gd name="adj" fmla="val 13333"/>
            </a:avLst>
          </a:prstGeom>
          <a:solidFill>
            <a:srgbClr val="141827"/>
          </a:solidFill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98448"/>
            <a:ext cx="16459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99B0"/>
                </a:solidFill>
              </a:rPr>
              <a:t>Total Complaints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1517904"/>
            <a:ext cx="16459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EAF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10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2578608" y="1234440"/>
            <a:ext cx="1920240" cy="822960"/>
          </a:xfrm>
          <a:prstGeom prst="roundRect">
            <a:avLst>
              <a:gd name="adj" fmla="val 13333"/>
            </a:avLst>
          </a:prstGeom>
          <a:solidFill>
            <a:srgbClr val="141827"/>
          </a:solidFill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15768" y="1298448"/>
            <a:ext cx="16459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99B0"/>
                </a:solidFill>
              </a:rPr>
              <a:t>Critical 🔴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15768" y="1517904"/>
            <a:ext cx="16459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0525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4700016" y="1234440"/>
            <a:ext cx="1920240" cy="822960"/>
          </a:xfrm>
          <a:prstGeom prst="roundRect">
            <a:avLst>
              <a:gd name="adj" fmla="val 13333"/>
            </a:avLst>
          </a:prstGeom>
          <a:solidFill>
            <a:srgbClr val="141827"/>
          </a:solidFill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37176" y="1298448"/>
            <a:ext cx="16459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99B0"/>
                </a:solidFill>
              </a:rPr>
              <a:t>High Priority 🟠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37176" y="1517904"/>
            <a:ext cx="16459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9731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821424" y="1234440"/>
            <a:ext cx="1920240" cy="822960"/>
          </a:xfrm>
          <a:prstGeom prst="roundRect">
            <a:avLst>
              <a:gd name="adj" fmla="val 13333"/>
            </a:avLst>
          </a:prstGeom>
          <a:solidFill>
            <a:srgbClr val="141827"/>
          </a:solidFill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58584" y="1298448"/>
            <a:ext cx="164592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99B0"/>
                </a:solidFill>
              </a:rPr>
              <a:t>Negative Sentiment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958584" y="1517904"/>
            <a:ext cx="16459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AB30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457200" y="2231136"/>
            <a:ext cx="8229600" cy="676656"/>
          </a:xfrm>
          <a:prstGeom prst="roundRect">
            <a:avLst>
              <a:gd name="adj" fmla="val 16216"/>
            </a:avLst>
          </a:prstGeom>
          <a:solidFill>
            <a:srgbClr val="141827"/>
          </a:solidFill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231136"/>
            <a:ext cx="64008" cy="676656"/>
          </a:xfrm>
          <a:prstGeom prst="rect">
            <a:avLst/>
          </a:prstGeom>
          <a:solidFill>
            <a:srgbClr val="F05252"/>
          </a:solidFill>
          <a:ln w="12700">
            <a:solidFill>
              <a:srgbClr val="F0525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304288"/>
            <a:ext cx="41148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EAF0"/>
                </a:solidFill>
              </a:rPr>
              <a:t>#1  john@example.com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349240" y="2322576"/>
            <a:ext cx="1261872" cy="210312"/>
          </a:xfrm>
          <a:prstGeom prst="roundRect">
            <a:avLst>
              <a:gd name="adj" fmla="val 17391"/>
            </a:avLst>
          </a:prstGeom>
          <a:solidFill>
            <a:srgbClr val="F05252">
              <a:alpha val="18000"/>
            </a:srgbClr>
          </a:solidFill>
        </p:spPr>
      </p:sp>
      <p:sp>
        <p:nvSpPr>
          <p:cNvPr id="21" name="Text 19"/>
          <p:cNvSpPr/>
          <p:nvPr/>
        </p:nvSpPr>
        <p:spPr>
          <a:xfrm>
            <a:off x="5349240" y="2322576"/>
            <a:ext cx="1261872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05252"/>
                </a:solidFill>
              </a:rPr>
              <a:t>Critical — 9/10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693408" y="2322576"/>
            <a:ext cx="1115568" cy="210312"/>
          </a:xfrm>
          <a:prstGeom prst="roundRect">
            <a:avLst>
              <a:gd name="adj" fmla="val 17391"/>
            </a:avLst>
          </a:prstGeom>
          <a:solidFill>
            <a:srgbClr val="F05252">
              <a:alpha val="18000"/>
            </a:srgbClr>
          </a:solidFill>
        </p:spPr>
      </p:sp>
      <p:sp>
        <p:nvSpPr>
          <p:cNvPr id="23" name="Text 21"/>
          <p:cNvSpPr/>
          <p:nvPr/>
        </p:nvSpPr>
        <p:spPr>
          <a:xfrm>
            <a:off x="6693408" y="2322576"/>
            <a:ext cx="1115568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05252"/>
                </a:solidFill>
              </a:rPr>
              <a:t>Negative −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40080" y="2578608"/>
            <a:ext cx="79552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99B0"/>
                </a:solidFill>
              </a:rPr>
              <a:t>My account has been hacked. Unauthorized transactions are happening right now!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3017520"/>
            <a:ext cx="8229600" cy="676656"/>
          </a:xfrm>
          <a:prstGeom prst="roundRect">
            <a:avLst>
              <a:gd name="adj" fmla="val 16216"/>
            </a:avLst>
          </a:prstGeom>
          <a:solidFill>
            <a:srgbClr val="141827"/>
          </a:solidFill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017520"/>
            <a:ext cx="64008" cy="67665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090672"/>
            <a:ext cx="41148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EAF0"/>
                </a:solidFill>
              </a:rPr>
              <a:t>#2  sarah@example.com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349240" y="3108960"/>
            <a:ext cx="1261872" cy="210312"/>
          </a:xfrm>
          <a:prstGeom prst="roundRect">
            <a:avLst>
              <a:gd name="adj" fmla="val 17391"/>
            </a:avLst>
          </a:prstGeom>
          <a:solidFill>
            <a:srgbClr val="F97316">
              <a:alpha val="18000"/>
            </a:srgbClr>
          </a:solidFill>
        </p:spPr>
      </p:sp>
      <p:sp>
        <p:nvSpPr>
          <p:cNvPr id="29" name="Text 27"/>
          <p:cNvSpPr/>
          <p:nvPr/>
        </p:nvSpPr>
        <p:spPr>
          <a:xfrm>
            <a:off x="5349240" y="3108960"/>
            <a:ext cx="1261872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97316"/>
                </a:solidFill>
              </a:rPr>
              <a:t>High — 7/10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693408" y="3108960"/>
            <a:ext cx="1115568" cy="210312"/>
          </a:xfrm>
          <a:prstGeom prst="roundRect">
            <a:avLst>
              <a:gd name="adj" fmla="val 17391"/>
            </a:avLst>
          </a:prstGeom>
          <a:solidFill>
            <a:srgbClr val="F05252">
              <a:alpha val="18000"/>
            </a:srgbClr>
          </a:solidFill>
        </p:spPr>
      </p:sp>
      <p:sp>
        <p:nvSpPr>
          <p:cNvPr id="31" name="Text 29"/>
          <p:cNvSpPr/>
          <p:nvPr/>
        </p:nvSpPr>
        <p:spPr>
          <a:xfrm>
            <a:off x="6693408" y="3108960"/>
            <a:ext cx="1115568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05252"/>
                </a:solidFill>
              </a:rPr>
              <a:t>Negative −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40080" y="3364992"/>
            <a:ext cx="79552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99B0"/>
                </a:solidFill>
              </a:rPr>
              <a:t>Waiting 3 weeks for refund. Nobody responds. This is absolutely unacceptable!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" y="3803904"/>
            <a:ext cx="8229600" cy="676656"/>
          </a:xfrm>
          <a:prstGeom prst="roundRect">
            <a:avLst>
              <a:gd name="adj" fmla="val 16216"/>
            </a:avLst>
          </a:prstGeom>
          <a:solidFill>
            <a:srgbClr val="141827"/>
          </a:solidFill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7200" y="3803904"/>
            <a:ext cx="64008" cy="67665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3877056"/>
            <a:ext cx="411480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EAF0"/>
                </a:solidFill>
              </a:rPr>
              <a:t>#3  mike@example.com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349240" y="3895344"/>
            <a:ext cx="1261872" cy="210312"/>
          </a:xfrm>
          <a:prstGeom prst="roundRect">
            <a:avLst>
              <a:gd name="adj" fmla="val 17391"/>
            </a:avLst>
          </a:prstGeom>
          <a:solidFill>
            <a:srgbClr val="22C55E">
              <a:alpha val="18000"/>
            </a:srgbClr>
          </a:solidFill>
        </p:spPr>
      </p:sp>
      <p:sp>
        <p:nvSpPr>
          <p:cNvPr id="37" name="Text 35"/>
          <p:cNvSpPr/>
          <p:nvPr/>
        </p:nvSpPr>
        <p:spPr>
          <a:xfrm>
            <a:off x="5349240" y="3895344"/>
            <a:ext cx="1261872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C55E"/>
                </a:solidFill>
              </a:rPr>
              <a:t>Low — 2/10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693408" y="3895344"/>
            <a:ext cx="1115568" cy="210312"/>
          </a:xfrm>
          <a:prstGeom prst="roundRect">
            <a:avLst>
              <a:gd name="adj" fmla="val 17391"/>
            </a:avLst>
          </a:prstGeom>
          <a:solidFill>
            <a:srgbClr val="22C55E">
              <a:alpha val="18000"/>
            </a:srgbClr>
          </a:solidFill>
        </p:spPr>
      </p:sp>
      <p:sp>
        <p:nvSpPr>
          <p:cNvPr id="39" name="Text 37"/>
          <p:cNvSpPr/>
          <p:nvPr/>
        </p:nvSpPr>
        <p:spPr>
          <a:xfrm>
            <a:off x="6693408" y="3895344"/>
            <a:ext cx="1115568" cy="2103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C55E"/>
                </a:solidFill>
              </a:rPr>
              <a:t>Positive +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40080" y="4151376"/>
            <a:ext cx="795528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99B0"/>
                </a:solidFill>
              </a:rPr>
              <a:t>Hi, I just wanted to ask how I can update my billing address. Thanks!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318004" cy="256032"/>
          </a:xfrm>
          <a:prstGeom prst="roundRect">
            <a:avLst>
              <a:gd name="adj" fmla="val 17857"/>
            </a:avLst>
          </a:prstGeom>
          <a:solidFill>
            <a:srgbClr val="6C8CF5">
              <a:alpha val="18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231800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C8CF5"/>
                </a:solidFill>
              </a:rPr>
              <a:t>EVALUATION CRITERIA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23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All Mandatory Requirements Satisfied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08176"/>
            <a:ext cx="1536192" cy="237744"/>
          </a:xfrm>
          <a:prstGeom prst="roundRect">
            <a:avLst>
              <a:gd name="adj" fmla="val 23077"/>
            </a:avLst>
          </a:prstGeom>
          <a:solidFill>
            <a:srgbClr val="6C8CF5">
              <a:alpha val="18000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640080" y="1408176"/>
            <a:ext cx="153619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C8CF5"/>
                </a:solidFill>
              </a:rPr>
              <a:t>✅  EXTERNAL API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719072"/>
            <a:ext cx="1536192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235"/>
                </a:solidFill>
              </a:rPr>
              <a:t>Service / API Integration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40864" y="1463040"/>
            <a:ext cx="0" cy="68580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87168" y="1371600"/>
            <a:ext cx="498348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groq_service.py makes a REST API call to Groq's cloud servers using our API key. The complaint is sent as a prompt. The JSON response is parsed by json.loads() into a Python dict.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487168" y="2029968"/>
            <a:ext cx="49834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C8CF5"/>
                </a:solidFill>
              </a:rPr>
              <a:t>File: services/groq_service.py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82296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2596896"/>
            <a:ext cx="1536192" cy="237744"/>
          </a:xfrm>
          <a:prstGeom prst="roundRect">
            <a:avLst>
              <a:gd name="adj" fmla="val 23077"/>
            </a:avLst>
          </a:prstGeom>
          <a:solidFill>
            <a:srgbClr val="26C6DA">
              <a:alpha val="18000"/>
            </a:srgbClr>
          </a:solidFill>
        </p:spPr>
      </p:sp>
      <p:sp>
        <p:nvSpPr>
          <p:cNvPr id="14" name="Text 12"/>
          <p:cNvSpPr/>
          <p:nvPr/>
        </p:nvSpPr>
        <p:spPr>
          <a:xfrm>
            <a:off x="640080" y="2596896"/>
            <a:ext cx="153619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6C6DA"/>
                </a:solidFill>
              </a:rPr>
              <a:t>✅  AGENT LOOP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2907792"/>
            <a:ext cx="1536192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235"/>
                </a:solidFill>
              </a:rPr>
              <a:t>Agent Loop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340864" y="2651760"/>
            <a:ext cx="0" cy="68580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87168" y="2560320"/>
            <a:ext cx="498348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sample_data.py iterates over 10 complaints sequentially. Each goes through the full pipeline: analyze → decide priority → store → display. The system acts, observes, stores, and moves to the next.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487168" y="3218688"/>
            <a:ext cx="49834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6C6DA"/>
                </a:solidFill>
              </a:rPr>
              <a:t>File: data/sample_data.py + services/db_service.py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82296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3785616"/>
            <a:ext cx="1536192" cy="237744"/>
          </a:xfrm>
          <a:prstGeom prst="roundRect">
            <a:avLst>
              <a:gd name="adj" fmla="val 23077"/>
            </a:avLst>
          </a:prstGeom>
          <a:solidFill>
            <a:srgbClr val="22C55E">
              <a:alpha val="18000"/>
            </a:srgbClr>
          </a:solidFill>
        </p:spPr>
      </p:sp>
      <p:sp>
        <p:nvSpPr>
          <p:cNvPr id="21" name="Text 19"/>
          <p:cNvSpPr/>
          <p:nvPr/>
        </p:nvSpPr>
        <p:spPr>
          <a:xfrm>
            <a:off x="640080" y="3785616"/>
            <a:ext cx="153619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</a:rPr>
              <a:t>✅  AI CAPABILITY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4096512"/>
            <a:ext cx="1536192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235"/>
                </a:solidFill>
              </a:rPr>
              <a:t>AI Capability Demo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340864" y="3840480"/>
            <a:ext cx="0" cy="68580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87168" y="3749040"/>
            <a:ext cx="498348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LLM-as-classifier: the model evaluates sentiment, urgency, and churn risk simultaneously in one prompt. It generates a reason and recommended action — replicating a senior support manager's judgment.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487168" y="4407408"/>
            <a:ext cx="498348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</a:rPr>
              <a:t>File: services/groq_service.py + analyzer.py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056132" cy="256032"/>
          </a:xfrm>
          <a:prstGeom prst="roundRect">
            <a:avLst>
              <a:gd name="adj" fmla="val 17857"/>
            </a:avLst>
          </a:prstGeom>
          <a:solidFill>
            <a:srgbClr val="6C8CF5">
              <a:alpha val="18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10561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C8CF5"/>
                </a:solidFill>
              </a:rPr>
              <a:t>TESTING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Automated Test Suite — tests/test_analyzer.py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115568"/>
            <a:ext cx="3657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99B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Run with:  pytest tests/ -v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548640"/>
          </a:xfrm>
          <a:prstGeom prst="roundRect">
            <a:avLst>
              <a:gd name="adj" fmla="val 20000"/>
            </a:avLst>
          </a:prstGeom>
          <a:solidFill>
            <a:srgbClr val="141827"/>
          </a:solidFill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955280" y="1618488"/>
            <a:ext cx="621792" cy="228600"/>
          </a:xfrm>
          <a:prstGeom prst="roundRect">
            <a:avLst>
              <a:gd name="adj" fmla="val 20000"/>
            </a:avLst>
          </a:prstGeom>
          <a:solidFill>
            <a:srgbClr val="22C55E">
              <a:alpha val="20000"/>
            </a:srgbClr>
          </a:solidFill>
        </p:spPr>
      </p:sp>
      <p:sp>
        <p:nvSpPr>
          <p:cNvPr id="8" name="Text 6"/>
          <p:cNvSpPr/>
          <p:nvPr/>
        </p:nvSpPr>
        <p:spPr>
          <a:xfrm>
            <a:off x="7955280" y="1618488"/>
            <a:ext cx="62179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C55E"/>
                </a:solidFill>
              </a:rPr>
              <a:t>PASS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80" y="1536192"/>
            <a:ext cx="32918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C8C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test_high_urgency_ticket()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40080" y="1764792"/>
            <a:ext cx="3657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99B0"/>
                </a:solidFill>
              </a:rPr>
              <a:t>Input: Angry complaint + cancellation threat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434840" y="1645920"/>
            <a:ext cx="3383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99B0"/>
                </a:solidFill>
              </a:rPr>
              <a:t>Assert: "Negative" and "High" in output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112264"/>
            <a:ext cx="8229600" cy="548640"/>
          </a:xfrm>
          <a:prstGeom prst="roundRect">
            <a:avLst>
              <a:gd name="adj" fmla="val 20000"/>
            </a:avLst>
          </a:prstGeom>
          <a:solidFill>
            <a:srgbClr val="141827"/>
          </a:solidFill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955280" y="2267712"/>
            <a:ext cx="621792" cy="228600"/>
          </a:xfrm>
          <a:prstGeom prst="roundRect">
            <a:avLst>
              <a:gd name="adj" fmla="val 20000"/>
            </a:avLst>
          </a:prstGeom>
          <a:solidFill>
            <a:srgbClr val="22C55E">
              <a:alpha val="20000"/>
            </a:srgbClr>
          </a:solidFill>
        </p:spPr>
      </p:sp>
      <p:sp>
        <p:nvSpPr>
          <p:cNvPr id="14" name="Text 12"/>
          <p:cNvSpPr/>
          <p:nvPr/>
        </p:nvSpPr>
        <p:spPr>
          <a:xfrm>
            <a:off x="7955280" y="2267712"/>
            <a:ext cx="62179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C55E"/>
                </a:solidFill>
              </a:rPr>
              <a:t>PASS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40080" y="2185416"/>
            <a:ext cx="32918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C8C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test_positive_ticket()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0080" y="2414016"/>
            <a:ext cx="3657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99B0"/>
                </a:solidFill>
              </a:rPr>
              <a:t>Input: Happy satisfied customer message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34840" y="2295144"/>
            <a:ext cx="3383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99B0"/>
                </a:solidFill>
              </a:rPr>
              <a:t>Assert: "Positive" in output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761488"/>
            <a:ext cx="8229600" cy="548640"/>
          </a:xfrm>
          <a:prstGeom prst="roundRect">
            <a:avLst>
              <a:gd name="adj" fmla="val 20000"/>
            </a:avLst>
          </a:prstGeom>
          <a:solidFill>
            <a:srgbClr val="141827"/>
          </a:solidFill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955280" y="2916936"/>
            <a:ext cx="621792" cy="228600"/>
          </a:xfrm>
          <a:prstGeom prst="roundRect">
            <a:avLst>
              <a:gd name="adj" fmla="val 20000"/>
            </a:avLst>
          </a:prstGeom>
          <a:solidFill>
            <a:srgbClr val="22C55E">
              <a:alpha val="20000"/>
            </a:srgbClr>
          </a:solidFill>
        </p:spPr>
      </p:sp>
      <p:sp>
        <p:nvSpPr>
          <p:cNvPr id="20" name="Text 18"/>
          <p:cNvSpPr/>
          <p:nvPr/>
        </p:nvSpPr>
        <p:spPr>
          <a:xfrm>
            <a:off x="7955280" y="2916936"/>
            <a:ext cx="62179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C55E"/>
                </a:solidFill>
              </a:rPr>
              <a:t>PASS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40080" y="2834640"/>
            <a:ext cx="32918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C8C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test_output_format()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40080" y="3063240"/>
            <a:ext cx="3657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99B0"/>
                </a:solidFill>
              </a:rPr>
              <a:t>Input: Billing dispute complaint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434840" y="2944368"/>
            <a:ext cx="3383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99B0"/>
                </a:solidFill>
              </a:rPr>
              <a:t>Assert: Output contains "Sentiment:" "Urgency:" "Churn Risk:"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410712"/>
            <a:ext cx="8229600" cy="548640"/>
          </a:xfrm>
          <a:prstGeom prst="roundRect">
            <a:avLst>
              <a:gd name="adj" fmla="val 20000"/>
            </a:avLst>
          </a:prstGeom>
          <a:solidFill>
            <a:srgbClr val="141827"/>
          </a:solidFill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955280" y="3566160"/>
            <a:ext cx="621792" cy="228600"/>
          </a:xfrm>
          <a:prstGeom prst="roundRect">
            <a:avLst>
              <a:gd name="adj" fmla="val 20000"/>
            </a:avLst>
          </a:prstGeom>
          <a:solidFill>
            <a:srgbClr val="22C55E">
              <a:alpha val="20000"/>
            </a:srgbClr>
          </a:solidFill>
        </p:spPr>
      </p:sp>
      <p:sp>
        <p:nvSpPr>
          <p:cNvPr id="26" name="Text 24"/>
          <p:cNvSpPr/>
          <p:nvPr/>
        </p:nvSpPr>
        <p:spPr>
          <a:xfrm>
            <a:off x="7955280" y="3566160"/>
            <a:ext cx="62179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C55E"/>
                </a:solidFill>
              </a:rPr>
              <a:t>PASS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40080" y="3483864"/>
            <a:ext cx="32918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C8C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test_empty_ticket()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40080" y="3712464"/>
            <a:ext cx="3657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99B0"/>
                </a:solidFill>
              </a:rPr>
              <a:t>Input: Empty string — edge case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434840" y="3593592"/>
            <a:ext cx="3383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99B0"/>
                </a:solidFill>
              </a:rPr>
              <a:t>Assert: Function returns something — does not crash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4059936"/>
            <a:ext cx="8229600" cy="548640"/>
          </a:xfrm>
          <a:prstGeom prst="roundRect">
            <a:avLst>
              <a:gd name="adj" fmla="val 20000"/>
            </a:avLst>
          </a:prstGeom>
          <a:solidFill>
            <a:srgbClr val="141827"/>
          </a:solidFill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955280" y="4215384"/>
            <a:ext cx="621792" cy="228600"/>
          </a:xfrm>
          <a:prstGeom prst="roundRect">
            <a:avLst>
              <a:gd name="adj" fmla="val 20000"/>
            </a:avLst>
          </a:prstGeom>
          <a:solidFill>
            <a:srgbClr val="22C55E">
              <a:alpha val="20000"/>
            </a:srgbClr>
          </a:solidFill>
        </p:spPr>
      </p:sp>
      <p:sp>
        <p:nvSpPr>
          <p:cNvPr id="32" name="Text 30"/>
          <p:cNvSpPr/>
          <p:nvPr/>
        </p:nvSpPr>
        <p:spPr>
          <a:xfrm>
            <a:off x="7955280" y="4215384"/>
            <a:ext cx="62179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C55E"/>
                </a:solidFill>
              </a:rPr>
              <a:t>PASS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40080" y="4133088"/>
            <a:ext cx="329184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C8CF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test_low_urgency_ticket()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40080" y="4361688"/>
            <a:ext cx="3657600" cy="1828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99B0"/>
                </a:solidFill>
              </a:rPr>
              <a:t>Input: Casual feature inquiry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434840" y="4242816"/>
            <a:ext cx="3383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99B0"/>
                </a:solidFill>
              </a:rPr>
              <a:t>Assert: "Low" or "Positive" in output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4773168"/>
            <a:ext cx="82296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</a:rPr>
              <a:t>5 passed  ·  Happy path + edge case + format validation all covered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948940" cy="256032"/>
          </a:xfrm>
          <a:prstGeom prst="roundRect">
            <a:avLst>
              <a:gd name="adj" fmla="val 17857"/>
            </a:avLst>
          </a:prstGeom>
          <a:solidFill>
            <a:srgbClr val="6C8CF5">
              <a:alpha val="18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29489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C8CF5"/>
                </a:solidFill>
              </a:rPr>
              <a:t>ASSUMPTIONS &amp; LIMITATIONS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23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Honest Engineering Assessment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858768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280160"/>
            <a:ext cx="349300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235"/>
                </a:solidFill>
              </a:rPr>
              <a:t>Assumptions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719072"/>
            <a:ext cx="137160" cy="137160"/>
          </a:xfrm>
          <a:prstGeom prst="ellipse">
            <a:avLst/>
          </a:prstGeom>
          <a:solidFill>
            <a:srgbClr val="6C8CF5"/>
          </a:solidFill>
          <a:ln w="12700">
            <a:solidFill>
              <a:srgbClr val="6C8C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682496"/>
            <a:ext cx="327355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Complaints submitted in English only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2103120"/>
            <a:ext cx="137160" cy="137160"/>
          </a:xfrm>
          <a:prstGeom prst="ellipse">
            <a:avLst/>
          </a:prstGeom>
          <a:solidFill>
            <a:srgbClr val="6C8CF5"/>
          </a:solidFill>
          <a:ln w="12700">
            <a:solidFill>
              <a:srgbClr val="6C8C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066544"/>
            <a:ext cx="327355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Groq free tier available during demo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2487168"/>
            <a:ext cx="137160" cy="137160"/>
          </a:xfrm>
          <a:prstGeom prst="ellipse">
            <a:avLst/>
          </a:prstGeom>
          <a:solidFill>
            <a:srgbClr val="6C8CF5"/>
          </a:solidFill>
          <a:ln w="12700">
            <a:solidFill>
              <a:srgbClr val="6C8C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2450592"/>
            <a:ext cx="327355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Single user at a time — no concurrency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2871216"/>
            <a:ext cx="137160" cy="137160"/>
          </a:xfrm>
          <a:prstGeom prst="ellipse">
            <a:avLst/>
          </a:prstGeom>
          <a:solidFill>
            <a:srgbClr val="6C8CF5"/>
          </a:solidFill>
          <a:ln w="12700">
            <a:solidFill>
              <a:srgbClr val="6C8C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2834640"/>
            <a:ext cx="327355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JSON storage sufficient (~100 complaints)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3255264"/>
            <a:ext cx="137160" cy="137160"/>
          </a:xfrm>
          <a:prstGeom prst="ellipse">
            <a:avLst/>
          </a:prstGeom>
          <a:solidFill>
            <a:srgbClr val="6C8CF5"/>
          </a:solidFill>
          <a:ln w="12700">
            <a:solidFill>
              <a:srgbClr val="6C8C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3218688"/>
            <a:ext cx="327355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Thresholds manually tuned (not ML-trained)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96112" y="3602736"/>
            <a:ext cx="327355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1188720"/>
            <a:ext cx="3858768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46320" y="1280160"/>
            <a:ext cx="349300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235"/>
                </a:solidFill>
              </a:rPr>
              <a:t>Limitations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846320" y="1719072"/>
            <a:ext cx="137160" cy="1371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02352" y="1682496"/>
            <a:ext cx="327355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No persistent DB — clear = data lost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46320" y="2103120"/>
            <a:ext cx="137160" cy="1371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02352" y="2066544"/>
            <a:ext cx="327355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No authentication on the dashboard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46320" y="2487168"/>
            <a:ext cx="137160" cy="1371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02352" y="2450592"/>
            <a:ext cx="327355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IN" altLang="en-US" sz="10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Not load-tested for production traffic</a:t>
            </a:r>
            <a:endParaRPr lang="en-IN" altLang="en-US" sz="10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846320" y="2871216"/>
            <a:ext cx="137160" cy="1371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02352" y="2834640"/>
            <a:ext cx="327355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AI latency depends on Groq API (1–3s)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46320" y="3255264"/>
            <a:ext cx="137160" cy="1371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02352" y="3218688"/>
            <a:ext cx="327355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</a:rPr>
              <a:t>Submitted tickets cannot be edited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102352" y="3602736"/>
            <a:ext cx="3273552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548640"/>
            <a:ext cx="4114800" cy="4114800"/>
          </a:xfrm>
          <a:prstGeom prst="ellipse">
            <a:avLst/>
          </a:prstGeom>
          <a:solidFill>
            <a:srgbClr val="6C8CF5">
              <a:alpha val="10000"/>
            </a:srgbClr>
          </a:solidFill>
          <a:ln w="12700">
            <a:solidFill>
              <a:srgbClr val="6C8CF5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2926080"/>
            <a:ext cx="2743200" cy="2743200"/>
          </a:xfrm>
          <a:prstGeom prst="ellipse">
            <a:avLst/>
          </a:prstGeom>
          <a:solidFill>
            <a:srgbClr val="26C6DA">
              <a:alpha val="10000"/>
            </a:srgbClr>
          </a:solidFill>
          <a:ln w="12700">
            <a:solidFill>
              <a:srgbClr val="26C6DA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347472"/>
            <a:ext cx="740664" cy="256032"/>
          </a:xfrm>
          <a:prstGeom prst="roundRect">
            <a:avLst>
              <a:gd name="adj" fmla="val 17857"/>
            </a:avLst>
          </a:prstGeom>
          <a:solidFill>
            <a:srgbClr val="6C8CF5">
              <a:alpha val="18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457200" y="347472"/>
            <a:ext cx="74066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C8CF5"/>
                </a:solidFill>
              </a:rPr>
              <a:t>TEAM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Team Infinia Squad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719072"/>
            <a:ext cx="2606040" cy="2084832"/>
          </a:xfrm>
          <a:prstGeom prst="roundRect">
            <a:avLst>
              <a:gd name="adj" fmla="val 5263"/>
            </a:avLst>
          </a:prstGeom>
          <a:solidFill>
            <a:srgbClr val="141827"/>
          </a:solidFill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399032" y="1828800"/>
            <a:ext cx="731520" cy="731520"/>
          </a:xfrm>
          <a:prstGeom prst="ellipse">
            <a:avLst/>
          </a:prstGeom>
          <a:solidFill>
            <a:srgbClr val="6C8CF5">
              <a:alpha val="22000"/>
            </a:srgbClr>
          </a:solidFill>
          <a:ln w="12700">
            <a:solidFill>
              <a:srgbClr val="6C8CF5">
                <a:alpha val="22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99032" y="182880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94360" y="2670048"/>
            <a:ext cx="2331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EAF0"/>
                </a:solidFill>
              </a:rPr>
              <a:t>Mathumitha.S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2953512"/>
            <a:ext cx="23317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C8CF5"/>
                </a:solidFill>
              </a:rPr>
              <a:t>AI Integration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C8CF5"/>
                </a:solidFill>
              </a:rPr>
              <a:t>Scoring Engine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3310128"/>
            <a:ext cx="233172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99B0"/>
                </a:solidFill>
              </a:rPr>
              <a:t>groq_service.py · analyzer.py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99B0"/>
                </a:solidFill>
              </a:rPr>
              <a:t>prompt engineering · API setup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10128" y="1719072"/>
            <a:ext cx="2606040" cy="2084832"/>
          </a:xfrm>
          <a:prstGeom prst="roundRect">
            <a:avLst>
              <a:gd name="adj" fmla="val 5263"/>
            </a:avLst>
          </a:prstGeom>
          <a:solidFill>
            <a:srgbClr val="141827"/>
          </a:solidFill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51960" y="1828800"/>
            <a:ext cx="731520" cy="731520"/>
          </a:xfrm>
          <a:prstGeom prst="ellipse">
            <a:avLst/>
          </a:prstGeom>
          <a:solidFill>
            <a:srgbClr val="26C6DA">
              <a:alpha val="22000"/>
            </a:srgbClr>
          </a:solidFill>
          <a:ln w="12700">
            <a:solidFill>
              <a:srgbClr val="26C6DA">
                <a:alpha val="22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51960" y="182880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🖥️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447288" y="2670048"/>
            <a:ext cx="2331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EAF0"/>
                </a:solidFill>
              </a:rPr>
              <a:t>Kaviya.S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47288" y="2953512"/>
            <a:ext cx="23317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6C6DA"/>
                </a:solidFill>
              </a:rPr>
              <a:t>UI / Dashboard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47288" y="3310128"/>
            <a:ext cx="233172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99B0"/>
                </a:solidFill>
              </a:rPr>
              <a:t>app.py · dashboard.py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99B0"/>
                </a:solidFill>
              </a:rPr>
              <a:t>Streamlit design · dark theme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63056" y="1719072"/>
            <a:ext cx="2606040" cy="2084832"/>
          </a:xfrm>
          <a:prstGeom prst="roundRect">
            <a:avLst>
              <a:gd name="adj" fmla="val 5263"/>
            </a:avLst>
          </a:prstGeom>
          <a:solidFill>
            <a:srgbClr val="141827"/>
          </a:solidFill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104888" y="1828800"/>
            <a:ext cx="731520" cy="731520"/>
          </a:xfrm>
          <a:prstGeom prst="ellipse">
            <a:avLst/>
          </a:prstGeom>
          <a:solidFill>
            <a:srgbClr val="22C55E">
              <a:alpha val="22000"/>
            </a:srgbClr>
          </a:solidFill>
          <a:ln w="12700">
            <a:solidFill>
              <a:srgbClr val="22C55E">
                <a:alpha val="22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04888" y="182880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⚙️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300216" y="2670048"/>
            <a:ext cx="23317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EAF0"/>
                </a:solidFill>
              </a:rPr>
              <a:t>Hemavarni.S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00216" y="2953512"/>
            <a:ext cx="23317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C55E"/>
                </a:solidFill>
              </a:rPr>
              <a:t>Backend Logic,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2C55E"/>
                </a:solidFill>
              </a:rPr>
              <a:t>Testing &amp; Docs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300216" y="3310128"/>
            <a:ext cx="233172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99B0"/>
                </a:solidFill>
              </a:rPr>
              <a:t>db_service.py · test_analyzer.py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99B0"/>
                </a:solidFill>
              </a:rPr>
              <a:t>README · AI usage note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4096512"/>
            <a:ext cx="8229600" cy="621792"/>
          </a:xfrm>
          <a:prstGeom prst="roundRect">
            <a:avLst>
              <a:gd name="adj" fmla="val 17647"/>
            </a:avLst>
          </a:prstGeom>
          <a:solidFill>
            <a:srgbClr val="141827"/>
          </a:solidFill>
        </p:spPr>
      </p:sp>
      <p:sp>
        <p:nvSpPr>
          <p:cNvPr id="27" name="Text 25"/>
          <p:cNvSpPr/>
          <p:nvPr/>
        </p:nvSpPr>
        <p:spPr>
          <a:xfrm>
            <a:off x="548640" y="4096512"/>
            <a:ext cx="8046720" cy="6217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i="1" dirty="0">
                <a:solidFill>
                  <a:srgbClr val="6C8CF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"Ship fast, score high, fix live."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7171</Words>
  <Application>WPS Presentation</Application>
  <PresentationFormat>On-screen Show (16:9)</PresentationFormat>
  <Paragraphs>481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Arial</vt:lpstr>
      <vt:lpstr>SimSun</vt:lpstr>
      <vt:lpstr>Wingdings</vt:lpstr>
      <vt:lpstr>Cambria</vt:lpstr>
      <vt:lpstr>Cambria</vt:lpstr>
      <vt:lpstr>Cambria</vt:lpstr>
      <vt:lpstr>Courier New</vt:lpstr>
      <vt:lpstr>Courier New</vt:lpstr>
      <vt:lpstr>Courier New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Customer Complaint Prioritization System</dc:title>
  <dc:creator>Team Infinia Squad</dc:creator>
  <dc:subject>PptxGenJS Presentation</dc:subject>
  <cp:lastModifiedBy>Kaviya Kaviya</cp:lastModifiedBy>
  <cp:revision>3</cp:revision>
  <dcterms:created xsi:type="dcterms:W3CDTF">2026-06-11T06:34:00Z</dcterms:created>
  <dcterms:modified xsi:type="dcterms:W3CDTF">2026-06-11T10:38:29Z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B598578778444755ABB1060534E3D5E9_13</vt:lpwstr>
  </property>
  <property fmtid="{D5CDD505-2E9C-101B-9397-08002B2CF9AE}" pid="3" name="KSOProductBuildVer">
    <vt:lpwstr>1033-12.1.0.26880</vt:lpwstr>
  </property>
</Properties>
</file>